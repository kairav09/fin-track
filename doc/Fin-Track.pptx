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09" r:id="rId1"/>
  </p:sldMasterIdLst>
  <p:notesMasterIdLst>
    <p:notesMasterId r:id="rId5"/>
  </p:notesMasterIdLst>
  <p:sldIdLst>
    <p:sldId id="256" r:id="rId2"/>
    <p:sldId id="257" r:id="rId3"/>
    <p:sldId id="262" r:id="rId4"/>
  </p:sldIdLst>
  <p:sldSz cx="14630400" cy="8229600"/>
  <p:notesSz cx="8229600" cy="14630400"/>
  <p:embeddedFontLst>
    <p:embeddedFont>
      <p:font typeface="Open Sans" panose="020B0606030504020204" pitchFamily="34" charset="0"/>
      <p:regular r:id="rId6"/>
      <p:bold r:id="rId7"/>
      <p:italic r:id="rId8"/>
      <p:boldItalic r:id="rId9"/>
    </p:embeddedFont>
    <p:embeddedFont>
      <p:font typeface="Unbounded Bold" pitchFamily="2" charset="0"/>
      <p:bold r:id="rId10"/>
    </p:embeddedFont>
    <p:embeddedFont>
      <p:font typeface="Unbounded Light" pitchFamily="2" charset="0"/>
      <p:regular r:id="rId1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E7CBA4"/>
    <a:srgbClr val="FBFBFB"/>
    <a:srgbClr val="333F70"/>
    <a:srgbClr val="58B6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A116DA-6E1E-40FD-BE2D-9172FFCAFAFA}" v="21" dt="2025-11-07T17:19:52.8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tableStyles" Target="tableStyles.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380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 y="7680960"/>
            <a:ext cx="1463040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8" name="Rectangle 7"/>
          <p:cNvSpPr/>
          <p:nvPr/>
        </p:nvSpPr>
        <p:spPr>
          <a:xfrm>
            <a:off x="1" y="7601179"/>
            <a:ext cx="14630400" cy="797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ctrTitle"/>
          </p:nvPr>
        </p:nvSpPr>
        <p:spPr>
          <a:xfrm>
            <a:off x="1316736" y="910742"/>
            <a:ext cx="12070080" cy="4279392"/>
          </a:xfrm>
        </p:spPr>
        <p:txBody>
          <a:bodyPr anchor="b">
            <a:normAutofit/>
          </a:bodyPr>
          <a:lstStyle>
            <a:lvl1pPr algn="l">
              <a:lnSpc>
                <a:spcPct val="85000"/>
              </a:lnSpc>
              <a:defRPr sz="9600" spc="-6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320061" y="5346745"/>
            <a:ext cx="12070080" cy="1371600"/>
          </a:xfrm>
        </p:spPr>
        <p:txBody>
          <a:bodyPr lIns="91440" rIns="91440">
            <a:normAutofit/>
          </a:bodyPr>
          <a:lstStyle>
            <a:lvl1pPr marL="0" indent="0" algn="l">
              <a:buNone/>
              <a:defRPr sz="2880" cap="all" spc="240" baseline="0">
                <a:solidFill>
                  <a:schemeClr val="tx2"/>
                </a:solidFill>
                <a:latin typeface="+mj-lt"/>
              </a:defRPr>
            </a:lvl1pPr>
            <a:lvl2pPr marL="548640" indent="0" algn="ctr">
              <a:buNone/>
              <a:defRPr sz="2880"/>
            </a:lvl2pPr>
            <a:lvl3pPr marL="1097280" indent="0" algn="ctr">
              <a:buNone/>
              <a:defRPr sz="2880"/>
            </a:lvl3pPr>
            <a:lvl4pPr marL="1645920" indent="0" algn="ctr">
              <a:buNone/>
              <a:defRPr sz="2400"/>
            </a:lvl4pPr>
            <a:lvl5pPr marL="2194560" indent="0" algn="ctr">
              <a:buNone/>
              <a:defRPr sz="2400"/>
            </a:lvl5pPr>
            <a:lvl6pPr marL="2743200" indent="0" algn="ctr">
              <a:buNone/>
              <a:defRPr sz="2400"/>
            </a:lvl6pPr>
            <a:lvl7pPr marL="3291840" indent="0" algn="ctr">
              <a:buNone/>
              <a:defRPr sz="2400"/>
            </a:lvl7pPr>
            <a:lvl8pPr marL="3840480" indent="0" algn="ctr">
              <a:buNone/>
              <a:defRPr sz="2400"/>
            </a:lvl8pPr>
            <a:lvl9pPr marL="438912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896183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0386092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a:xfrm>
            <a:off x="1316736" y="910742"/>
            <a:ext cx="12070080" cy="4279392"/>
          </a:xfrm>
        </p:spPr>
        <p:txBody>
          <a:bodyPr anchor="b" anchorCtr="0">
            <a:normAutofit/>
          </a:bodyPr>
          <a:lstStyle>
            <a:lvl1pPr>
              <a:lnSpc>
                <a:spcPct val="85000"/>
              </a:lnSpc>
              <a:defRPr sz="96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16736" y="5343754"/>
            <a:ext cx="12070080" cy="1371600"/>
          </a:xfrm>
        </p:spPr>
        <p:txBody>
          <a:bodyPr lIns="91440" rIns="91440" anchor="t" anchorCtr="0">
            <a:normAutofit/>
          </a:bodyPr>
          <a:lstStyle>
            <a:lvl1pPr marL="0" indent="0">
              <a:buNone/>
              <a:defRPr sz="2880" cap="all" spc="240" baseline="0">
                <a:solidFill>
                  <a:schemeClr val="tx2"/>
                </a:solidFill>
                <a:latin typeface="+mj-lt"/>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94236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316736" y="343924"/>
            <a:ext cx="12070080" cy="174090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16736" y="2214881"/>
            <a:ext cx="5925312" cy="48280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61504" y="2214882"/>
            <a:ext cx="5925312"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1883760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316736" y="343924"/>
            <a:ext cx="12070080" cy="174090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16736"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16736" y="3098802"/>
            <a:ext cx="5925312" cy="394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61504"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61504" y="3098801"/>
            <a:ext cx="5925312" cy="3944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1702708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2/20/2026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1675126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6" name="Rectangle 5"/>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7" name="Date Placeholder 6"/>
          <p:cNvSpPr>
            <a:spLocks noGrp="1"/>
          </p:cNvSpPr>
          <p:nvPr>
            <p:ph type="dt" sz="half" idx="10"/>
          </p:nvPr>
        </p:nvSpPr>
        <p:spPr/>
        <p:txBody>
          <a:bodyPr/>
          <a:lstStyle/>
          <a:p>
            <a:fld id="{1D8BD707-D9CF-40AE-B4C6-C98DA3205C09}" type="datetimeFigureOut">
              <a:rPr lang="en-US" smtClean="0"/>
              <a:pPr/>
              <a:t>2/20/2026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2008896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0" y="0"/>
            <a:ext cx="4860949"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9" name="Rectangle 8"/>
          <p:cNvSpPr/>
          <p:nvPr/>
        </p:nvSpPr>
        <p:spPr>
          <a:xfrm>
            <a:off x="4848085" y="0"/>
            <a:ext cx="7681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a:xfrm>
            <a:off x="548640" y="713231"/>
            <a:ext cx="3840480" cy="2743200"/>
          </a:xfrm>
        </p:spPr>
        <p:txBody>
          <a:bodyPr anchor="b">
            <a:normAutofit/>
          </a:bodyPr>
          <a:lstStyle>
            <a:lvl1pPr>
              <a:defRPr sz="43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60720" y="877824"/>
            <a:ext cx="7790688" cy="6309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8640" y="3511296"/>
            <a:ext cx="3840480" cy="4054949"/>
          </a:xfrm>
        </p:spPr>
        <p:txBody>
          <a:bodyPr lIns="91440" rIns="91440">
            <a:normAutofit/>
          </a:bodyPr>
          <a:lstStyle>
            <a:lvl1pPr marL="0" indent="0">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a:xfrm>
            <a:off x="558614" y="7751743"/>
            <a:ext cx="3142212" cy="438150"/>
          </a:xfrm>
        </p:spPr>
        <p:txBody>
          <a:bodyPr/>
          <a:lstStyle>
            <a:lvl1pPr algn="l">
              <a:defRPr/>
            </a:lvl1pPr>
          </a:lstStyle>
          <a:p>
            <a:fld id="{1D8BD707-D9CF-40AE-B4C6-C98DA3205C09}" type="datetimeFigureOut">
              <a:rPr lang="en-US" smtClean="0"/>
              <a:pPr/>
              <a:t>2/20/2026</a:t>
            </a:fld>
            <a:endParaRPr lang="en-US" dirty="0"/>
          </a:p>
        </p:txBody>
      </p:sp>
      <p:sp>
        <p:nvSpPr>
          <p:cNvPr id="6" name="Footer Placeholder 5"/>
          <p:cNvSpPr>
            <a:spLocks noGrp="1"/>
          </p:cNvSpPr>
          <p:nvPr>
            <p:ph type="ftr" sz="quarter" idx="11"/>
          </p:nvPr>
        </p:nvSpPr>
        <p:spPr>
          <a:xfrm>
            <a:off x="5760720" y="7751743"/>
            <a:ext cx="5577840" cy="438150"/>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407689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5943600"/>
            <a:ext cx="1462659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9" name="Rectangle 8"/>
          <p:cNvSpPr/>
          <p:nvPr/>
        </p:nvSpPr>
        <p:spPr>
          <a:xfrm>
            <a:off x="19" y="5898091"/>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a:xfrm>
            <a:off x="1316737" y="6089904"/>
            <a:ext cx="12136374" cy="987552"/>
          </a:xfrm>
        </p:spPr>
        <p:txBody>
          <a:bodyPr tIns="0" bIns="0" anchor="b">
            <a:noAutofit/>
          </a:bodyPr>
          <a:lstStyle>
            <a:lvl1pPr>
              <a:defRPr sz="432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9" y="0"/>
            <a:ext cx="14630382" cy="5898091"/>
          </a:xfrm>
          <a:solidFill>
            <a:schemeClr val="bg2">
              <a:lumMod val="90000"/>
            </a:schemeClr>
          </a:solidFill>
        </p:spPr>
        <p:txBody>
          <a:bodyPr lIns="457200" tIns="457200"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dirty="0"/>
              <a:t>Click icon to add picture</a:t>
            </a:r>
          </a:p>
        </p:txBody>
      </p:sp>
      <p:sp>
        <p:nvSpPr>
          <p:cNvPr id="4" name="Text Placeholder 3"/>
          <p:cNvSpPr>
            <a:spLocks noGrp="1"/>
          </p:cNvSpPr>
          <p:nvPr>
            <p:ph type="body" sz="half" idx="2"/>
          </p:nvPr>
        </p:nvSpPr>
        <p:spPr>
          <a:xfrm>
            <a:off x="1316736" y="7088429"/>
            <a:ext cx="12135917" cy="713232"/>
          </a:xfrm>
        </p:spPr>
        <p:txBody>
          <a:bodyPr lIns="91440" tIns="0" rIns="91440" bIns="0">
            <a:normAutofit/>
          </a:bodyPr>
          <a:lstStyle>
            <a:lvl1pPr marL="0" indent="0">
              <a:spcBef>
                <a:spcPts val="0"/>
              </a:spcBef>
              <a:spcAft>
                <a:spcPts val="720"/>
              </a:spcAft>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7019456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16740446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Vertical Title 1"/>
          <p:cNvSpPr>
            <a:spLocks noGrp="1"/>
          </p:cNvSpPr>
          <p:nvPr>
            <p:ph type="title" orient="vert"/>
          </p:nvPr>
        </p:nvSpPr>
        <p:spPr>
          <a:xfrm>
            <a:off x="10469880" y="494762"/>
            <a:ext cx="3154680" cy="691187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94762"/>
            <a:ext cx="9281160" cy="691187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4734869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74162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5795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0665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7188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470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20802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526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9" name="Rectangle 8"/>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Placeholder 1"/>
          <p:cNvSpPr>
            <a:spLocks noGrp="1"/>
          </p:cNvSpPr>
          <p:nvPr>
            <p:ph type="title"/>
          </p:nvPr>
        </p:nvSpPr>
        <p:spPr>
          <a:xfrm>
            <a:off x="1316736" y="343924"/>
            <a:ext cx="12070080" cy="17409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316736" y="2214881"/>
            <a:ext cx="12070080" cy="4828032"/>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16737" y="7751743"/>
            <a:ext cx="2966725" cy="438150"/>
          </a:xfrm>
          <a:prstGeom prst="rect">
            <a:avLst/>
          </a:prstGeom>
        </p:spPr>
        <p:txBody>
          <a:bodyPr vert="horz" lIns="91440" tIns="45720" rIns="91440" bIns="45720" rtlCol="0" anchor="ctr"/>
          <a:lstStyle>
            <a:lvl1pPr algn="l">
              <a:defRPr sz="1080">
                <a:solidFill>
                  <a:srgbClr val="FFFFFF"/>
                </a:solidFill>
              </a:defRPr>
            </a:lvl1pPr>
          </a:lstStyle>
          <a:p>
            <a:fld id="{1D8BD707-D9CF-40AE-B4C6-C98DA3205C09}" type="datetimeFigureOut">
              <a:rPr lang="en-US" smtClean="0"/>
              <a:pPr/>
              <a:t>2/20/2026</a:t>
            </a:fld>
            <a:endParaRPr lang="en-US" dirty="0"/>
          </a:p>
        </p:txBody>
      </p:sp>
      <p:sp>
        <p:nvSpPr>
          <p:cNvPr id="5" name="Footer Placeholder 4"/>
          <p:cNvSpPr>
            <a:spLocks noGrp="1"/>
          </p:cNvSpPr>
          <p:nvPr>
            <p:ph type="ftr" sz="quarter" idx="3"/>
          </p:nvPr>
        </p:nvSpPr>
        <p:spPr>
          <a:xfrm>
            <a:off x="4423422" y="7751743"/>
            <a:ext cx="5787365" cy="438150"/>
          </a:xfrm>
          <a:prstGeom prst="rect">
            <a:avLst/>
          </a:prstGeom>
        </p:spPr>
        <p:txBody>
          <a:bodyPr vert="horz" lIns="91440" tIns="45720" rIns="91440" bIns="45720" rtlCol="0" anchor="ctr"/>
          <a:lstStyle>
            <a:lvl1pPr algn="ctr">
              <a:defRPr sz="108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1880550" y="7751743"/>
            <a:ext cx="1574430" cy="438150"/>
          </a:xfrm>
          <a:prstGeom prst="rect">
            <a:avLst/>
          </a:prstGeom>
        </p:spPr>
        <p:txBody>
          <a:bodyPr vert="horz" lIns="91440" tIns="45720" rIns="91440" bIns="45720" rtlCol="0" anchor="ctr"/>
          <a:lstStyle>
            <a:lvl1pPr algn="r">
              <a:defRPr sz="1260">
                <a:solidFill>
                  <a:srgbClr val="FFFFFF"/>
                </a:solidFill>
              </a:defRPr>
            </a:lvl1pPr>
          </a:lstStyle>
          <a:p>
            <a:fld id="{B6F15528-21DE-4FAA-801E-634DDDAF4B2B}" type="slidenum">
              <a:rPr lang="en-US" smtClean="0"/>
              <a:pPr/>
              <a:t>‹#›</a:t>
            </a:fld>
            <a:endParaRPr lang="en-US" dirty="0"/>
          </a:p>
        </p:txBody>
      </p:sp>
      <p:cxnSp>
        <p:nvCxnSpPr>
          <p:cNvPr id="10" name="Straight Connector 9"/>
          <p:cNvCxnSpPr/>
          <p:nvPr/>
        </p:nvCxnSpPr>
        <p:spPr>
          <a:xfrm>
            <a:off x="1432238" y="2085414"/>
            <a:ext cx="1196035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239359"/>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 id="2147483825" r:id="rId16"/>
    <p:sldLayoutId id="2147483826" r:id="rId17"/>
    <p:sldLayoutId id="2147483827" r:id="rId18"/>
  </p:sldLayoutIdLst>
  <p:hf sldNum="0" hdr="0" ftr="0" dt="0"/>
  <p:txStyles>
    <p:title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p:titleStyle>
    <p:bodyStyle>
      <a:lvl1pPr marL="109728" indent="-109728" algn="l" defTabSz="1097280" rtl="0" eaLnBrk="1" latinLnBrk="0" hangingPunct="1">
        <a:lnSpc>
          <a:spcPct val="90000"/>
        </a:lnSpc>
        <a:spcBef>
          <a:spcPts val="1440"/>
        </a:spcBef>
        <a:spcAft>
          <a:spcPts val="24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460858" indent="-219456" algn="l" defTabSz="1097280" rtl="0" eaLnBrk="1" latinLnBrk="0" hangingPunct="1">
        <a:lnSpc>
          <a:spcPct val="90000"/>
        </a:lnSpc>
        <a:spcBef>
          <a:spcPts val="240"/>
        </a:spcBef>
        <a:spcAft>
          <a:spcPts val="480"/>
        </a:spcAft>
        <a:buClr>
          <a:schemeClr val="accent1"/>
        </a:buClr>
        <a:buFont typeface="Calibri" pitchFamily="34" charset="0"/>
        <a:buChar char="◦"/>
        <a:defRPr sz="2160" kern="1200">
          <a:solidFill>
            <a:schemeClr val="tx1">
              <a:lumMod val="75000"/>
              <a:lumOff val="25000"/>
            </a:schemeClr>
          </a:solidFill>
          <a:latin typeface="+mn-lt"/>
          <a:ea typeface="+mn-ea"/>
          <a:cs typeface="+mn-cs"/>
        </a:defRPr>
      </a:lvl2pPr>
      <a:lvl3pPr marL="680314"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3pPr>
      <a:lvl4pPr marL="899770"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4pPr>
      <a:lvl5pPr marL="1119226"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5pPr>
      <a:lvl6pPr marL="132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6pPr>
      <a:lvl7pPr marL="156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7pPr>
      <a:lvl8pPr marL="180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8pPr>
      <a:lvl9pPr marL="204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ABA0DA-7CDB-E4B8-2664-21F9315E1ECB}"/>
              </a:ext>
            </a:extLst>
          </p:cNvPr>
          <p:cNvSpPr/>
          <p:nvPr/>
        </p:nvSpPr>
        <p:spPr>
          <a:xfrm>
            <a:off x="1393902" y="2062976"/>
            <a:ext cx="7750098" cy="89209"/>
          </a:xfrm>
          <a:prstGeom prst="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 name="Image 0" descr="preencoded.png"/>
          <p:cNvPicPr>
            <a:picLocks noChangeAspect="1"/>
          </p:cNvPicPr>
          <p:nvPr/>
        </p:nvPicPr>
        <p:blipFill>
          <a:blip r:embed="rId3"/>
          <a:stretch>
            <a:fillRect/>
          </a:stretch>
        </p:blipFill>
        <p:spPr>
          <a:xfrm>
            <a:off x="9144000" y="0"/>
            <a:ext cx="5486400" cy="7605132"/>
          </a:xfrm>
          <a:prstGeom prst="rect">
            <a:avLst/>
          </a:prstGeom>
        </p:spPr>
      </p:pic>
      <p:sp>
        <p:nvSpPr>
          <p:cNvPr id="3" name="Text 0"/>
          <p:cNvSpPr/>
          <p:nvPr/>
        </p:nvSpPr>
        <p:spPr>
          <a:xfrm>
            <a:off x="646771" y="599183"/>
            <a:ext cx="8062331" cy="2212101"/>
          </a:xfrm>
          <a:prstGeom prst="rect">
            <a:avLst/>
          </a:prstGeom>
          <a:noFill/>
          <a:ln/>
        </p:spPr>
        <p:txBody>
          <a:bodyPr wrap="square" lIns="0" tIns="0" rIns="0" bIns="0" rtlCol="0" anchor="t"/>
          <a:lstStyle/>
          <a:p>
            <a:pPr marL="0" indent="0" algn="l">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Personal Income </a:t>
            </a:r>
            <a:r>
              <a:rPr lang="en-US" sz="4450" b="1">
                <a:solidFill>
                  <a:srgbClr val="333F70"/>
                </a:solidFill>
                <a:latin typeface="Unbounded Bold" pitchFamily="34" charset="0"/>
                <a:ea typeface="Unbounded Bold" pitchFamily="34" charset="-122"/>
                <a:cs typeface="Unbounded Bold" pitchFamily="34" charset="-120"/>
              </a:rPr>
              <a:t>and Expense </a:t>
            </a:r>
            <a:r>
              <a:rPr lang="en-US" sz="4450" b="1" dirty="0">
                <a:solidFill>
                  <a:srgbClr val="333F70"/>
                </a:solidFill>
                <a:latin typeface="Unbounded Bold" pitchFamily="34" charset="0"/>
                <a:ea typeface="Unbounded Bold" pitchFamily="34" charset="-122"/>
                <a:cs typeface="Unbounded Bold" pitchFamily="34" charset="-120"/>
              </a:rPr>
              <a:t>Tracker</a:t>
            </a:r>
            <a:endParaRPr lang="en-US" sz="4450" dirty="0"/>
          </a:p>
        </p:txBody>
      </p:sp>
      <p:sp>
        <p:nvSpPr>
          <p:cNvPr id="5" name="Text 2"/>
          <p:cNvSpPr/>
          <p:nvPr/>
        </p:nvSpPr>
        <p:spPr>
          <a:xfrm>
            <a:off x="646771" y="3470383"/>
            <a:ext cx="7794702" cy="1909985"/>
          </a:xfrm>
          <a:prstGeom prst="rect">
            <a:avLst/>
          </a:prstGeom>
          <a:noFill/>
          <a:ln/>
        </p:spPr>
        <p:txBody>
          <a:bodyPr wrap="none" lIns="0" tIns="0" rIns="0" bIns="0" rtlCol="0" anchor="t"/>
          <a:lstStyle/>
          <a:p>
            <a:pPr>
              <a:lnSpc>
                <a:spcPts val="2850"/>
              </a:lnSpc>
            </a:pPr>
            <a:br>
              <a:rPr lang="en-US" dirty="0">
                <a:latin typeface="Unbounded Light" pitchFamily="2" charset="0"/>
              </a:rPr>
            </a:br>
            <a:r>
              <a:rPr lang="en-US" b="1" dirty="0">
                <a:latin typeface="Unbounded Light" pitchFamily="2" charset="0"/>
              </a:rPr>
              <a:t>Members:</a:t>
            </a:r>
            <a:r>
              <a:rPr lang="en-US" dirty="0">
                <a:latin typeface="Unbounded Light" pitchFamily="2" charset="0"/>
              </a:rPr>
              <a:t> </a:t>
            </a:r>
            <a:r>
              <a:rPr lang="en-US" i="1" dirty="0">
                <a:latin typeface="Unbounded Light" pitchFamily="2" charset="0"/>
              </a:rPr>
              <a:t>KAIRAV VASHI (Roll No. 2520030582)</a:t>
            </a:r>
          </a:p>
          <a:p>
            <a:pPr>
              <a:lnSpc>
                <a:spcPts val="2850"/>
              </a:lnSpc>
            </a:pPr>
            <a:r>
              <a:rPr lang="en-US" b="1" i="1" dirty="0">
                <a:latin typeface="Unbounded Light" pitchFamily="2" charset="0"/>
              </a:rPr>
              <a:t>Section 7</a:t>
            </a:r>
            <a:br>
              <a:rPr lang="en-US" dirty="0">
                <a:latin typeface="Unbounded Light" pitchFamily="2" charset="0"/>
              </a:rPr>
            </a:br>
            <a:r>
              <a:rPr lang="en-US" b="1" dirty="0">
                <a:latin typeface="Unbounded Light" pitchFamily="2" charset="0"/>
              </a:rPr>
              <a:t>Department of Computer Science &amp; Engineering</a:t>
            </a:r>
            <a:endParaRPr lang="en-US" sz="1600" dirty="0">
              <a:latin typeface="Unbounded Light" pitchFamily="2" charset="0"/>
            </a:endParaRPr>
          </a:p>
        </p:txBody>
      </p:sp>
      <p:pic>
        <p:nvPicPr>
          <p:cNvPr id="6" name="Image 1">
            <a:extLst>
              <a:ext uri="{FF2B5EF4-FFF2-40B4-BE49-F238E27FC236}">
                <a16:creationId xmlns:a16="http://schemas.microsoft.com/office/drawing/2014/main" id="{34DD1354-9BA3-CF83-9696-2F4FBBC73AA6}"/>
              </a:ext>
            </a:extLst>
          </p:cNvPr>
          <p:cNvPicPr>
            <a:picLocks/>
          </p:cNvPicPr>
          <p:nvPr/>
        </p:nvPicPr>
        <p:blipFill>
          <a:blip r:embed="rId4" cstate="print"/>
          <a:stretch>
            <a:fillRect/>
          </a:stretch>
        </p:blipFill>
        <p:spPr>
          <a:xfrm>
            <a:off x="646771" y="6303362"/>
            <a:ext cx="2020570" cy="723900"/>
          </a:xfrm>
          <a:prstGeom prst="rect">
            <a:avLst/>
          </a:prstGeom>
        </p:spPr>
      </p:pic>
      <p:pic>
        <p:nvPicPr>
          <p:cNvPr id="7" name="Image 2">
            <a:extLst>
              <a:ext uri="{FF2B5EF4-FFF2-40B4-BE49-F238E27FC236}">
                <a16:creationId xmlns:a16="http://schemas.microsoft.com/office/drawing/2014/main" id="{4936D324-DB21-EDFD-DE72-4E00DD61D205}"/>
              </a:ext>
            </a:extLst>
          </p:cNvPr>
          <p:cNvPicPr>
            <a:picLocks/>
          </p:cNvPicPr>
          <p:nvPr/>
        </p:nvPicPr>
        <p:blipFill>
          <a:blip r:embed="rId5" cstate="print"/>
          <a:stretch>
            <a:fillRect/>
          </a:stretch>
        </p:blipFill>
        <p:spPr>
          <a:xfrm>
            <a:off x="2801009" y="6244148"/>
            <a:ext cx="5640464" cy="842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708748F-3419-2BB5-5BC5-0F701B4B49E7}"/>
              </a:ext>
            </a:extLst>
          </p:cNvPr>
          <p:cNvSpPr/>
          <p:nvPr/>
        </p:nvSpPr>
        <p:spPr>
          <a:xfrm>
            <a:off x="1393901" y="2062976"/>
            <a:ext cx="12110225" cy="89209"/>
          </a:xfrm>
          <a:prstGeom prst="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759307" y="514910"/>
            <a:ext cx="5670590" cy="708779"/>
          </a:xfrm>
          <a:prstGeom prst="rect">
            <a:avLst/>
          </a:prstGeom>
          <a:noFill/>
          <a:ln/>
        </p:spPr>
        <p:txBody>
          <a:bodyPr wrap="none" lIns="0" tIns="0" rIns="0" bIns="0" rtlCol="0" anchor="t"/>
          <a:lstStyle/>
          <a:p>
            <a:pPr marL="0" indent="0" algn="l">
              <a:lnSpc>
                <a:spcPts val="5550"/>
              </a:lnSpc>
              <a:buNone/>
            </a:pPr>
            <a:r>
              <a:rPr lang="en-US" sz="4400" b="1" u="sng" dirty="0">
                <a:solidFill>
                  <a:srgbClr val="333F70"/>
                </a:solidFill>
                <a:latin typeface="Unbounded Bold" pitchFamily="34" charset="0"/>
              </a:rPr>
              <a:t>Abstract</a:t>
            </a:r>
            <a:endParaRPr lang="en-US" sz="4400" u="sng" dirty="0"/>
          </a:p>
        </p:txBody>
      </p:sp>
      <p:sp>
        <p:nvSpPr>
          <p:cNvPr id="9" name="Rectangle 8">
            <a:extLst>
              <a:ext uri="{FF2B5EF4-FFF2-40B4-BE49-F238E27FC236}">
                <a16:creationId xmlns:a16="http://schemas.microsoft.com/office/drawing/2014/main" id="{C5D8FB88-D6B3-7A0B-1D6C-A2D6FEED90BF}"/>
              </a:ext>
            </a:extLst>
          </p:cNvPr>
          <p:cNvSpPr/>
          <p:nvPr/>
        </p:nvSpPr>
        <p:spPr>
          <a:xfrm>
            <a:off x="12812751" y="7750098"/>
            <a:ext cx="1717287" cy="362903"/>
          </a:xfrm>
          <a:prstGeom prst="rect">
            <a:avLst/>
          </a:prstGeom>
          <a:solidFill>
            <a:srgbClr val="58B6C0"/>
          </a:solidFill>
          <a:ln>
            <a:solidFill>
              <a:srgbClr val="58B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1">
            <a:extLst>
              <a:ext uri="{FF2B5EF4-FFF2-40B4-BE49-F238E27FC236}">
                <a16:creationId xmlns:a16="http://schemas.microsoft.com/office/drawing/2014/main" id="{6B7AECBE-E796-E53E-63BE-7200548C69D9}"/>
              </a:ext>
            </a:extLst>
          </p:cNvPr>
          <p:cNvSpPr>
            <a:spLocks noChangeArrowheads="1"/>
          </p:cNvSpPr>
          <p:nvPr/>
        </p:nvSpPr>
        <p:spPr bwMode="auto">
          <a:xfrm>
            <a:off x="759307" y="2647660"/>
            <a:ext cx="13379411"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latin typeface="Open Sans" panose="020B0606030504020204" pitchFamily="34" charset="0"/>
                <a:ea typeface="Open Sans" panose="020B0606030504020204" pitchFamily="34" charset="0"/>
                <a:cs typeface="Open Sans" panose="020B0606030504020204" pitchFamily="34" charset="0"/>
              </a:rPr>
              <a:t>The </a:t>
            </a:r>
            <a:r>
              <a:rPr lang="en-US" sz="2800" b="1" dirty="0">
                <a:latin typeface="Open Sans" panose="020B0606030504020204" pitchFamily="34" charset="0"/>
                <a:ea typeface="Open Sans" panose="020B0606030504020204" pitchFamily="34" charset="0"/>
                <a:cs typeface="Open Sans" panose="020B0606030504020204" pitchFamily="34" charset="0"/>
              </a:rPr>
              <a:t>Personal Income and Expense Tracker</a:t>
            </a:r>
            <a:r>
              <a:rPr lang="en-US" sz="2800" dirty="0">
                <a:latin typeface="Open Sans" panose="020B0606030504020204" pitchFamily="34" charset="0"/>
                <a:ea typeface="Open Sans" panose="020B0606030504020204" pitchFamily="34" charset="0"/>
                <a:cs typeface="Open Sans" panose="020B0606030504020204" pitchFamily="34" charset="0"/>
              </a:rPr>
              <a:t> is a simple and user-friendly web application designed to help individuals record and monitor their daily financial activities. The system allows users to enter details of their income and expenses through structured web forms and view them in an organized manner. By using a web-based interface, the application makes it easy for users to track where their money is spent and how much they save over time. This helps users develop better financial awareness and encourages disciplined money management.</a:t>
            </a:r>
          </a:p>
          <a:p>
            <a:endParaRPr lang="en-US" sz="24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transition spd="med">
    <p:wipe/>
  </p:transition>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nvSpPr>
        <p:spPr>
          <a:xfrm>
            <a:off x="2745253" y="3544966"/>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4" name="Text 2"/>
          <p:cNvSpPr/>
          <p:nvPr/>
        </p:nvSpPr>
        <p:spPr>
          <a:xfrm>
            <a:off x="793790" y="4503182"/>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5" name="Text 3"/>
          <p:cNvSpPr/>
          <p:nvPr/>
        </p:nvSpPr>
        <p:spPr>
          <a:xfrm>
            <a:off x="793790" y="5121235"/>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7" name="Rectangle 6">
            <a:extLst>
              <a:ext uri="{FF2B5EF4-FFF2-40B4-BE49-F238E27FC236}">
                <a16:creationId xmlns:a16="http://schemas.microsoft.com/office/drawing/2014/main" id="{00675FD5-F512-F842-666F-17222195618D}"/>
              </a:ext>
            </a:extLst>
          </p:cNvPr>
          <p:cNvSpPr/>
          <p:nvPr/>
        </p:nvSpPr>
        <p:spPr>
          <a:xfrm>
            <a:off x="12812751" y="7750098"/>
            <a:ext cx="1717287" cy="362903"/>
          </a:xfrm>
          <a:prstGeom prst="rect">
            <a:avLst/>
          </a:prstGeom>
          <a:solidFill>
            <a:srgbClr val="58B6C0"/>
          </a:solidFill>
          <a:ln>
            <a:solidFill>
              <a:srgbClr val="58B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4BD32B44-4237-7D3F-BFD6-180C317471DB}"/>
              </a:ext>
            </a:extLst>
          </p:cNvPr>
          <p:cNvSpPr/>
          <p:nvPr/>
        </p:nvSpPr>
        <p:spPr>
          <a:xfrm>
            <a:off x="1393902" y="1789282"/>
            <a:ext cx="11976410" cy="362903"/>
          </a:xfrm>
          <a:prstGeom prst="rect">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0226A3E2-473C-E264-B3F0-4C1ED5679366}"/>
              </a:ext>
            </a:extLst>
          </p:cNvPr>
          <p:cNvSpPr txBox="1"/>
          <p:nvPr/>
        </p:nvSpPr>
        <p:spPr>
          <a:xfrm>
            <a:off x="1282390" y="1991141"/>
            <a:ext cx="12087922" cy="4247317"/>
          </a:xfrm>
          <a:prstGeom prst="rect">
            <a:avLst/>
          </a:prstGeom>
          <a:noFill/>
        </p:spPr>
        <p:txBody>
          <a:bodyPr wrap="square" rtlCol="0">
            <a:spAutoFit/>
          </a:bodyPr>
          <a:lstStyle/>
          <a:p>
            <a:r>
              <a:rPr lang="en-US" sz="2800" dirty="0">
                <a:latin typeface="Open Sans" panose="020B0606030504020204" pitchFamily="34" charset="0"/>
                <a:ea typeface="Open Sans" panose="020B0606030504020204" pitchFamily="34" charset="0"/>
                <a:cs typeface="Open Sans" panose="020B0606030504020204" pitchFamily="34" charset="0"/>
              </a:rPr>
              <a:t>The system is developed using </a:t>
            </a:r>
            <a:r>
              <a:rPr lang="en-US" sz="2800" b="1" dirty="0">
                <a:latin typeface="Open Sans" panose="020B0606030504020204" pitchFamily="34" charset="0"/>
                <a:ea typeface="Open Sans" panose="020B0606030504020204" pitchFamily="34" charset="0"/>
                <a:cs typeface="Open Sans" panose="020B0606030504020204" pitchFamily="34" charset="0"/>
              </a:rPr>
              <a:t>HTML</a:t>
            </a:r>
            <a:r>
              <a:rPr lang="en-US" sz="2800" dirty="0">
                <a:latin typeface="Open Sans" panose="020B0606030504020204" pitchFamily="34" charset="0"/>
                <a:ea typeface="Open Sans" panose="020B0606030504020204" pitchFamily="34" charset="0"/>
                <a:cs typeface="Open Sans" panose="020B0606030504020204" pitchFamily="34" charset="0"/>
              </a:rPr>
              <a:t>, </a:t>
            </a:r>
            <a:r>
              <a:rPr lang="en-US" sz="2800" b="1" dirty="0">
                <a:latin typeface="Open Sans" panose="020B0606030504020204" pitchFamily="34" charset="0"/>
                <a:ea typeface="Open Sans" panose="020B0606030504020204" pitchFamily="34" charset="0"/>
                <a:cs typeface="Open Sans" panose="020B0606030504020204" pitchFamily="34" charset="0"/>
              </a:rPr>
              <a:t>CSS and JavaScript </a:t>
            </a:r>
            <a:r>
              <a:rPr lang="en-US" sz="2800" dirty="0">
                <a:latin typeface="Open Sans" panose="020B0606030504020204" pitchFamily="34" charset="0"/>
                <a:ea typeface="Open Sans" panose="020B0606030504020204" pitchFamily="34" charset="0"/>
                <a:cs typeface="Open Sans" panose="020B0606030504020204" pitchFamily="34" charset="0"/>
              </a:rPr>
              <a:t>which provides a clear and accessible interface for data input and display. The application presents financial records in a readable format, such as tables and summaries, making it easy to understand overall financial status at a glance. The project focuses on simplicity, usability, and clarity, ensuring that users can interact with the system without technical difficulty. This web-based approach demonstrates how basic web technologies can be effectively used to solve real-life problems related to personal finance management.</a:t>
            </a:r>
          </a:p>
          <a:p>
            <a:endParaRPr lang="en-IN"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drape"/>
      </p:transition>
    </mc:Choice>
    <mc:Fallback xmlns="">
      <p:transition spd="slow">
        <p:fade/>
      </p:transition>
    </mc:Fallback>
  </mc:AlternateContent>
</p:sld>
</file>

<file path=ppt/theme/theme1.xml><?xml version="1.0" encoding="utf-8"?>
<a:theme xmlns:a="http://schemas.openxmlformats.org/drawingml/2006/main" name="Retrospec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659</TotalTime>
  <Words>215</Words>
  <Application>Microsoft Office PowerPoint</Application>
  <PresentationFormat>Custom</PresentationFormat>
  <Paragraphs>9</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Unbounded Bold</vt:lpstr>
      <vt:lpstr>Unbounded Light</vt:lpstr>
      <vt:lpstr>Calibri</vt:lpstr>
      <vt:lpstr>Calibri Light</vt:lpstr>
      <vt:lpstr>Open Sans</vt:lpstr>
      <vt:lpstr>Retrospect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Kairav Vashi</cp:lastModifiedBy>
  <cp:revision>44</cp:revision>
  <dcterms:created xsi:type="dcterms:W3CDTF">2025-11-07T16:31:47Z</dcterms:created>
  <dcterms:modified xsi:type="dcterms:W3CDTF">2026-02-20T07:23:02Z</dcterms:modified>
</cp:coreProperties>
</file>