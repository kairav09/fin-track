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09" r:id="rId1"/>
  </p:sldMasterIdLst>
  <p:notesMasterIdLst>
    <p:notesMasterId r:id="rId5"/>
  </p:notesMasterIdLst>
  <p:sldIdLst>
    <p:sldId id="256" r:id="rId2"/>
    <p:sldId id="257" r:id="rId3"/>
    <p:sldId id="262" r:id="rId4"/>
  </p:sldIdLst>
  <p:sldSz cx="14630400" cy="8229600"/>
  <p:notesSz cx="8229600" cy="14630400"/>
  <p:embeddedFontLst>
    <p:embeddedFont>
      <p:font typeface="Open Sans" panose="020B0606030504020204" pitchFamily="34" charset="0"/>
      <p:regular r:id="rId6"/>
      <p:bold r:id="rId7"/>
      <p:italic r:id="rId8"/>
      <p:boldItalic r:id="rId9"/>
    </p:embeddedFont>
    <p:embeddedFont>
      <p:font typeface="Unbounded Bold" pitchFamily="2" charset="0"/>
      <p:bold r:id="rId10"/>
    </p:embeddedFont>
    <p:embeddedFont>
      <p:font typeface="Unbounded Light" pitchFamily="2" charset="0"/>
      <p:regular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7CBA4"/>
    <a:srgbClr val="FBFBFB"/>
    <a:srgbClr val="333F70"/>
    <a:srgbClr val="58B6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116DA-6E1E-40FD-BE2D-9172FFCAFAFA}" v="21" dt="2025-11-07T17:19:52.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80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 y="7601179"/>
            <a:ext cx="14630400" cy="797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20061" y="5346745"/>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9618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386092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94236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16736" y="2214881"/>
            <a:ext cx="5925312" cy="48280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188376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2"/>
            <a:ext cx="5925312" cy="394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394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170270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1675126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6" name="Rectangle 5"/>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7" name="Date Placeholder 6"/>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200889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4848085" y="0"/>
            <a:ext cx="7681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1D8BD707-D9CF-40AE-B4C6-C98DA3205C09}" type="datetimeFigureOut">
              <a:rPr lang="en-US" smtClean="0"/>
              <a:pPr/>
              <a:t>1/24/2026</a:t>
            </a:fld>
            <a:endParaRPr lang="en-US" dirty="0"/>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407689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19" y="5898091"/>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1316737" y="6089904"/>
            <a:ext cx="12136374" cy="987552"/>
          </a:xfrm>
        </p:spPr>
        <p:txBody>
          <a:bodyPr tIns="0" bIns="0" anchor="b">
            <a:noAutofit/>
          </a:bodyPr>
          <a:lstStyle>
            <a:lvl1pPr>
              <a:defRPr sz="432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9" y="0"/>
            <a:ext cx="14630382" cy="5898091"/>
          </a:xfrm>
          <a:solidFill>
            <a:schemeClr val="bg2">
              <a:lumMod val="90000"/>
            </a:schemeClr>
          </a:solidFill>
        </p:spPr>
        <p:txBody>
          <a:bodyPr lIns="457200" tIns="45720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p:cNvSpPr>
            <a:spLocks noGrp="1"/>
          </p:cNvSpPr>
          <p:nvPr>
            <p:ph type="body" sz="half" idx="2"/>
          </p:nvPr>
        </p:nvSpPr>
        <p:spPr>
          <a:xfrm>
            <a:off x="1316736" y="7088429"/>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701945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674044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Vertical Title 1"/>
          <p:cNvSpPr>
            <a:spLocks noGrp="1"/>
          </p:cNvSpPr>
          <p:nvPr>
            <p:ph type="title" orient="vert"/>
          </p:nvPr>
        </p:nvSpPr>
        <p:spPr>
          <a:xfrm>
            <a:off x="10469880" y="494762"/>
            <a:ext cx="3154680" cy="69118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94762"/>
            <a:ext cx="9281160" cy="691187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473486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7416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795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665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188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47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080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526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1D8BD707-D9CF-40AE-B4C6-C98DA3205C09}" type="datetimeFigureOut">
              <a:rPr lang="en-US" smtClean="0"/>
              <a:pPr/>
              <a:t>1/24/2026</a:t>
            </a:fld>
            <a:endParaRPr lang="en-US" dirty="0"/>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B6F15528-21DE-4FAA-801E-634DDDAF4B2B}" type="slidenum">
              <a:rPr lang="en-US" smtClean="0"/>
              <a:pPr/>
              <a:t>‹#›</a:t>
            </a:fld>
            <a:endParaRPr lang="en-US" dirty="0"/>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239359"/>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Lst>
  <p:hf sldNum="0"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ABA0DA-7CDB-E4B8-2664-21F9315E1ECB}"/>
              </a:ext>
            </a:extLst>
          </p:cNvPr>
          <p:cNvSpPr/>
          <p:nvPr/>
        </p:nvSpPr>
        <p:spPr>
          <a:xfrm>
            <a:off x="1393902" y="2062976"/>
            <a:ext cx="7750098" cy="89209"/>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Image 0" descr="preencoded.png"/>
          <p:cNvPicPr>
            <a:picLocks noChangeAspect="1"/>
          </p:cNvPicPr>
          <p:nvPr/>
        </p:nvPicPr>
        <p:blipFill>
          <a:blip r:embed="rId3"/>
          <a:stretch>
            <a:fillRect/>
          </a:stretch>
        </p:blipFill>
        <p:spPr>
          <a:xfrm>
            <a:off x="9144000" y="0"/>
            <a:ext cx="5486400" cy="7605132"/>
          </a:xfrm>
          <a:prstGeom prst="rect">
            <a:avLst/>
          </a:prstGeom>
        </p:spPr>
      </p:pic>
      <p:sp>
        <p:nvSpPr>
          <p:cNvPr id="3" name="Text 0"/>
          <p:cNvSpPr/>
          <p:nvPr/>
        </p:nvSpPr>
        <p:spPr>
          <a:xfrm>
            <a:off x="646771" y="599183"/>
            <a:ext cx="8062331" cy="2212101"/>
          </a:xfrm>
          <a:prstGeom prst="rect">
            <a:avLst/>
          </a:prstGeom>
          <a:noFill/>
          <a:ln/>
        </p:spPr>
        <p:txBody>
          <a:bodyPr wrap="squar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Web Based Personal Finance Tracker</a:t>
            </a:r>
            <a:endParaRPr lang="en-US" sz="4450" dirty="0"/>
          </a:p>
        </p:txBody>
      </p:sp>
      <p:sp>
        <p:nvSpPr>
          <p:cNvPr id="5" name="Text 2"/>
          <p:cNvSpPr/>
          <p:nvPr/>
        </p:nvSpPr>
        <p:spPr>
          <a:xfrm>
            <a:off x="646771" y="3470383"/>
            <a:ext cx="7794702" cy="1909985"/>
          </a:xfrm>
          <a:prstGeom prst="rect">
            <a:avLst/>
          </a:prstGeom>
          <a:noFill/>
          <a:ln/>
        </p:spPr>
        <p:txBody>
          <a:bodyPr wrap="none" lIns="0" tIns="0" rIns="0" bIns="0" rtlCol="0" anchor="t"/>
          <a:lstStyle/>
          <a:p>
            <a:pPr>
              <a:lnSpc>
                <a:spcPts val="2850"/>
              </a:lnSpc>
            </a:pPr>
            <a:br>
              <a:rPr lang="en-US" dirty="0">
                <a:latin typeface="Unbounded Light" pitchFamily="2" charset="0"/>
              </a:rPr>
            </a:br>
            <a:r>
              <a:rPr lang="en-US" b="1" dirty="0">
                <a:latin typeface="Unbounded Light" pitchFamily="2" charset="0"/>
              </a:rPr>
              <a:t>Members:</a:t>
            </a:r>
            <a:r>
              <a:rPr lang="en-US" dirty="0">
                <a:latin typeface="Unbounded Light" pitchFamily="2" charset="0"/>
              </a:rPr>
              <a:t> </a:t>
            </a:r>
            <a:r>
              <a:rPr lang="en-US" i="1" dirty="0">
                <a:latin typeface="Unbounded Light" pitchFamily="2" charset="0"/>
              </a:rPr>
              <a:t>KAIRAV VASHI (Roll No. 2520030582)</a:t>
            </a:r>
          </a:p>
          <a:p>
            <a:pPr>
              <a:lnSpc>
                <a:spcPts val="2850"/>
              </a:lnSpc>
            </a:pPr>
            <a:r>
              <a:rPr lang="en-US" b="1" i="1" dirty="0">
                <a:latin typeface="Unbounded Light" pitchFamily="2" charset="0"/>
              </a:rPr>
              <a:t>Section 7</a:t>
            </a:r>
            <a:br>
              <a:rPr lang="en-US" dirty="0">
                <a:latin typeface="Unbounded Light" pitchFamily="2" charset="0"/>
              </a:rPr>
            </a:br>
            <a:r>
              <a:rPr lang="en-US" b="1" dirty="0">
                <a:latin typeface="Unbounded Light" pitchFamily="2" charset="0"/>
              </a:rPr>
              <a:t>Department of Computer Science &amp; Engineering</a:t>
            </a:r>
            <a:endParaRPr lang="en-US" sz="1600" dirty="0">
              <a:latin typeface="Unbounded Light" pitchFamily="2" charset="0"/>
            </a:endParaRPr>
          </a:p>
        </p:txBody>
      </p:sp>
      <p:pic>
        <p:nvPicPr>
          <p:cNvPr id="6" name="Image 1">
            <a:extLst>
              <a:ext uri="{FF2B5EF4-FFF2-40B4-BE49-F238E27FC236}">
                <a16:creationId xmlns:a16="http://schemas.microsoft.com/office/drawing/2014/main" id="{34DD1354-9BA3-CF83-9696-2F4FBBC73AA6}"/>
              </a:ext>
            </a:extLst>
          </p:cNvPr>
          <p:cNvPicPr>
            <a:picLocks/>
          </p:cNvPicPr>
          <p:nvPr/>
        </p:nvPicPr>
        <p:blipFill>
          <a:blip r:embed="rId4" cstate="print"/>
          <a:stretch>
            <a:fillRect/>
          </a:stretch>
        </p:blipFill>
        <p:spPr>
          <a:xfrm>
            <a:off x="646771" y="6303362"/>
            <a:ext cx="2020570" cy="723900"/>
          </a:xfrm>
          <a:prstGeom prst="rect">
            <a:avLst/>
          </a:prstGeom>
        </p:spPr>
      </p:pic>
      <p:pic>
        <p:nvPicPr>
          <p:cNvPr id="7" name="Image 2">
            <a:extLst>
              <a:ext uri="{FF2B5EF4-FFF2-40B4-BE49-F238E27FC236}">
                <a16:creationId xmlns:a16="http://schemas.microsoft.com/office/drawing/2014/main" id="{4936D324-DB21-EDFD-DE72-4E00DD61D205}"/>
              </a:ext>
            </a:extLst>
          </p:cNvPr>
          <p:cNvPicPr>
            <a:picLocks/>
          </p:cNvPicPr>
          <p:nvPr/>
        </p:nvPicPr>
        <p:blipFill>
          <a:blip r:embed="rId5" cstate="print"/>
          <a:stretch>
            <a:fillRect/>
          </a:stretch>
        </p:blipFill>
        <p:spPr>
          <a:xfrm>
            <a:off x="2801009" y="6244148"/>
            <a:ext cx="5640464" cy="842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708748F-3419-2BB5-5BC5-0F701B4B49E7}"/>
              </a:ext>
            </a:extLst>
          </p:cNvPr>
          <p:cNvSpPr/>
          <p:nvPr/>
        </p:nvSpPr>
        <p:spPr>
          <a:xfrm>
            <a:off x="1393901" y="2062976"/>
            <a:ext cx="12110225" cy="89209"/>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682277" y="384986"/>
            <a:ext cx="5670590" cy="708779"/>
          </a:xfrm>
          <a:prstGeom prst="rect">
            <a:avLst/>
          </a:prstGeom>
          <a:noFill/>
          <a:ln/>
        </p:spPr>
        <p:txBody>
          <a:bodyPr wrap="none" lIns="0" tIns="0" rIns="0" bIns="0" rtlCol="0" anchor="t"/>
          <a:lstStyle/>
          <a:p>
            <a:pPr marL="0" indent="0" algn="l">
              <a:lnSpc>
                <a:spcPts val="5550"/>
              </a:lnSpc>
              <a:buNone/>
            </a:pPr>
            <a:r>
              <a:rPr lang="en-US" sz="4400" b="1" u="sng" dirty="0">
                <a:solidFill>
                  <a:srgbClr val="333F70"/>
                </a:solidFill>
                <a:latin typeface="Unbounded Bold" pitchFamily="34" charset="0"/>
              </a:rPr>
              <a:t>Abstract</a:t>
            </a:r>
            <a:endParaRPr lang="en-US" sz="4400" u="sng" dirty="0"/>
          </a:p>
        </p:txBody>
      </p:sp>
      <p:sp>
        <p:nvSpPr>
          <p:cNvPr id="9" name="Rectangle 8">
            <a:extLst>
              <a:ext uri="{FF2B5EF4-FFF2-40B4-BE49-F238E27FC236}">
                <a16:creationId xmlns:a16="http://schemas.microsoft.com/office/drawing/2014/main" id="{C5D8FB88-D6B3-7A0B-1D6C-A2D6FEED90BF}"/>
              </a:ext>
            </a:extLst>
          </p:cNvPr>
          <p:cNvSpPr/>
          <p:nvPr/>
        </p:nvSpPr>
        <p:spPr>
          <a:xfrm>
            <a:off x="12812751" y="7750098"/>
            <a:ext cx="1717287" cy="362903"/>
          </a:xfrm>
          <a:prstGeom prst="rect">
            <a:avLst/>
          </a:prstGeom>
          <a:solidFill>
            <a:srgbClr val="58B6C0"/>
          </a:solidFill>
          <a:ln>
            <a:solidFill>
              <a:srgbClr val="58B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1">
            <a:extLst>
              <a:ext uri="{FF2B5EF4-FFF2-40B4-BE49-F238E27FC236}">
                <a16:creationId xmlns:a16="http://schemas.microsoft.com/office/drawing/2014/main" id="{6B7AECBE-E796-E53E-63BE-7200548C69D9}"/>
              </a:ext>
            </a:extLst>
          </p:cNvPr>
          <p:cNvSpPr>
            <a:spLocks noChangeArrowheads="1"/>
          </p:cNvSpPr>
          <p:nvPr/>
        </p:nvSpPr>
        <p:spPr bwMode="auto">
          <a:xfrm>
            <a:off x="759307" y="2647660"/>
            <a:ext cx="13379411"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The </a:t>
            </a:r>
            <a:r>
              <a:rPr lang="en-US" sz="2800" b="1" dirty="0">
                <a:latin typeface="Open Sans" panose="020B0606030504020204" pitchFamily="34" charset="0"/>
                <a:ea typeface="Open Sans" panose="020B0606030504020204" pitchFamily="34" charset="0"/>
                <a:cs typeface="Open Sans" panose="020B0606030504020204" pitchFamily="34" charset="0"/>
              </a:rPr>
              <a:t>Web Based Personal Finance Tracker</a:t>
            </a:r>
            <a:r>
              <a:rPr lang="en-US" sz="2800" dirty="0">
                <a:latin typeface="Open Sans" panose="020B0606030504020204" pitchFamily="34" charset="0"/>
                <a:ea typeface="Open Sans" panose="020B0606030504020204" pitchFamily="34" charset="0"/>
                <a:cs typeface="Open Sans" panose="020B0606030504020204" pitchFamily="34" charset="0"/>
              </a:rPr>
              <a:t> is a simple and user-friendly web application designed to help individuals record and monitor their daily financial activities. The system allows users to enter details of their income and expenses through structured web forms and view them in an organized manner. By using a web-based interface, the application makes it easy for users to track where their money is spent and how much they save over time. This helps users develop better financial awareness and encourages disciplined money management.</a:t>
            </a:r>
          </a:p>
          <a:p>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2745253" y="354496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2"/>
          <p:cNvSpPr/>
          <p:nvPr/>
        </p:nvSpPr>
        <p:spPr>
          <a:xfrm>
            <a:off x="793790" y="450318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 3"/>
          <p:cNvSpPr/>
          <p:nvPr/>
        </p:nvSpPr>
        <p:spPr>
          <a:xfrm>
            <a:off x="793790" y="5121235"/>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Rectangle 6">
            <a:extLst>
              <a:ext uri="{FF2B5EF4-FFF2-40B4-BE49-F238E27FC236}">
                <a16:creationId xmlns:a16="http://schemas.microsoft.com/office/drawing/2014/main" id="{00675FD5-F512-F842-666F-17222195618D}"/>
              </a:ext>
            </a:extLst>
          </p:cNvPr>
          <p:cNvSpPr/>
          <p:nvPr/>
        </p:nvSpPr>
        <p:spPr>
          <a:xfrm>
            <a:off x="12812751" y="7750098"/>
            <a:ext cx="1717287" cy="362903"/>
          </a:xfrm>
          <a:prstGeom prst="rect">
            <a:avLst/>
          </a:prstGeom>
          <a:solidFill>
            <a:srgbClr val="58B6C0"/>
          </a:solidFill>
          <a:ln>
            <a:solidFill>
              <a:srgbClr val="58B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4BD32B44-4237-7D3F-BFD6-180C317471DB}"/>
              </a:ext>
            </a:extLst>
          </p:cNvPr>
          <p:cNvSpPr/>
          <p:nvPr/>
        </p:nvSpPr>
        <p:spPr>
          <a:xfrm>
            <a:off x="1393902" y="1789282"/>
            <a:ext cx="11976410" cy="362903"/>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0226A3E2-473C-E264-B3F0-4C1ED5679366}"/>
              </a:ext>
            </a:extLst>
          </p:cNvPr>
          <p:cNvSpPr txBox="1"/>
          <p:nvPr/>
        </p:nvSpPr>
        <p:spPr>
          <a:xfrm>
            <a:off x="1282390" y="1991141"/>
            <a:ext cx="12087922" cy="4247317"/>
          </a:xfrm>
          <a:prstGeom prst="rect">
            <a:avLst/>
          </a:prstGeom>
          <a:noFill/>
        </p:spPr>
        <p:txBody>
          <a:bodyPr wrap="square"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The system is developed using </a:t>
            </a:r>
            <a:r>
              <a:rPr lang="en-US" sz="2800" b="1" dirty="0">
                <a:latin typeface="Open Sans" panose="020B0606030504020204" pitchFamily="34" charset="0"/>
                <a:ea typeface="Open Sans" panose="020B0606030504020204" pitchFamily="34" charset="0"/>
                <a:cs typeface="Open Sans" panose="020B0606030504020204" pitchFamily="34" charset="0"/>
              </a:rPr>
              <a:t>HTML</a:t>
            </a:r>
            <a:r>
              <a:rPr lang="en-US" sz="2800" dirty="0">
                <a:latin typeface="Open Sans" panose="020B0606030504020204" pitchFamily="34" charset="0"/>
                <a:ea typeface="Open Sans" panose="020B0606030504020204" pitchFamily="34" charset="0"/>
                <a:cs typeface="Open Sans" panose="020B0606030504020204" pitchFamily="34" charset="0"/>
              </a:rPr>
              <a:t>, which provides a clear and accessible interface for data input and display. The application presents financial records in a readable format, such as tables and summaries, making it easy to understand overall financial status at a glance. The project focuses on simplicity, usability, and clarity, ensuring that users can interact with the system without technical difficulty. This web-based approach demonstrates how basic web technologies can be effectively used to solve real-life problems related to personal finance management.</a:t>
            </a:r>
          </a:p>
          <a:p>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drape"/>
      </p:transition>
    </mc:Choice>
    <mc:Fallback xmlns="">
      <p:transition spd="slow">
        <p:fade/>
      </p:transition>
    </mc:Fallback>
  </mc:AlternateContent>
</p:sld>
</file>

<file path=ppt/theme/theme1.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656</TotalTime>
  <Words>212</Words>
  <Application>Microsoft Office PowerPoint</Application>
  <PresentationFormat>Custom</PresentationFormat>
  <Paragraphs>9</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Unbounded Bold</vt:lpstr>
      <vt:lpstr>Unbounded Light</vt:lpstr>
      <vt:lpstr>Open Sans</vt:lpstr>
      <vt:lpstr>Calibri Light</vt:lpstr>
      <vt:lpstr>Calibri</vt:lpstr>
      <vt:lpstr>Retrospect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Kairav Vashi</cp:lastModifiedBy>
  <cp:revision>41</cp:revision>
  <dcterms:created xsi:type="dcterms:W3CDTF">2025-11-07T16:31:47Z</dcterms:created>
  <dcterms:modified xsi:type="dcterms:W3CDTF">2026-01-24T09:29:40Z</dcterms:modified>
</cp:coreProperties>
</file>